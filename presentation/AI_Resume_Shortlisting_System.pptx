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457200"/>
            <a:ext cx="2743200" cy="2743200"/>
          </a:xfrm>
          <a:prstGeom prst="ellipse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AI-Powered Resume
Shortlisting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Automating Candidate Screening Using NLP &amp; 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60520"/>
            <a:ext cx="45720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B5FD"/>
                </a:solidFill>
                <a:latin typeface="Calibri"/>
              </a:rPr>
              <a:t>Major Project Presentation
Department of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8FD4"/>
                </a:solidFill>
                <a:latin typeface="Calibri"/>
              </a:rPr>
              <a:t>BERT  ·  TF-IDF  ·  React  ·  Node.js  ·  Flask  · 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  <a:latin typeface="Calibri"/>
              </a:rPr>
              <a:t>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Recruiters spend only 6–8 seconds per resume — screening is rushed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871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  <a:latin typeface="Calibri"/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High application volumes cause fatigue and inconsistency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5409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  <a:latin typeface="Calibri"/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5409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Qualified candidates are overlooked due to subjective 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210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  <a:latin typeface="Calibr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2102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Bias creeps in through manual review of hundreds of resumes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8795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  <a:latin typeface="Calibr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879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Need: An intelligent, automated, unbiased screening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  <a:latin typeface="Calibri"/>
              </a:rPr>
              <a:t>1️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Automate resume parsing from PDF and DOCX formats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871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  <a:latin typeface="Calibri"/>
              </a:rPr>
              <a:t>2️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Match candidate skills against job requirements using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5409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  <a:latin typeface="Calibri"/>
              </a:rPr>
              <a:t>3️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5409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Rank candidates objectively based on multiple weighted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210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  <a:latin typeface="Calibri"/>
              </a:rPr>
              <a:t>4️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2102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Provide recruiters a real-time visual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8795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  <a:latin typeface="Calibri"/>
              </a:rPr>
              <a:t>5️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879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Reduce hiring bias and improve decision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  <a:latin typeface="Calibri"/>
              </a:rPr>
              <a:t>6️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54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Build a production-ready microservices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Three-Tier Microservices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926080" cy="1645920"/>
          </a:xfrm>
          <a:prstGeom prst="rect">
            <a:avLst/>
          </a:prstGeom>
          <a:solidFill>
            <a:srgbClr val="4C1D95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Frontend</a:t>
            </a:r>
          </a:p>
          <a:p>
            <a:r>
              <a:t>(React)</a:t>
            </a:r>
          </a:p>
          <a:p>
            <a:r>
              <a:t>:3000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2194560"/>
            <a:ext cx="2926080" cy="1645920"/>
          </a:xfrm>
          <a:prstGeom prst="rect">
            <a:avLst/>
          </a:prstGeom>
          <a:solidFill>
            <a:srgbClr val="1E40A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Backend</a:t>
            </a:r>
          </a:p>
          <a:p>
            <a:r>
              <a:t>(Express)</a:t>
            </a:r>
          </a:p>
          <a:p>
            <a:r>
              <a:t>:5000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2194560"/>
            <a:ext cx="2926080" cy="1645920"/>
          </a:xfrm>
          <a:prstGeom prst="rect">
            <a:avLst/>
          </a:prstGeom>
          <a:solidFill>
            <a:srgbClr val="065F46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ML Pipeline</a:t>
            </a:r>
          </a:p>
          <a:p>
            <a:r>
              <a:t>(Flask)</a:t>
            </a:r>
          </a:p>
          <a:p>
            <a:r>
              <a:t>:5001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834640"/>
            <a:ext cx="114300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7432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C63FF"/>
                </a:solidFill>
                <a:latin typeface="Calibri"/>
              </a:rPr>
              <a:t>◄──►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2834640"/>
            <a:ext cx="114300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7432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C63FF"/>
                </a:solidFill>
                <a:latin typeface="Calibri"/>
              </a:rPr>
              <a:t>◄──►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B5FD"/>
                </a:solidFill>
                <a:latin typeface="Calibri"/>
              </a:rPr>
              <a:t>1. Recruiter posts job with required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3542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B5FD"/>
                </a:solidFill>
                <a:latin typeface="Calibri"/>
              </a:rPr>
              <a:t>2. Candidates upload PDF/DOCX resumes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560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B5FD"/>
                </a:solidFill>
                <a:latin typeface="Calibri"/>
              </a:rPr>
              <a:t>3. ML Pipeline parses resume → raw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76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B5FD"/>
                </a:solidFill>
                <a:latin typeface="Calibri"/>
              </a:rPr>
              <a:t>4. BERT + TF-IDF calculate semantic similarity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B5FD"/>
                </a:solidFill>
                <a:latin typeface="Calibri"/>
              </a:rPr>
              <a:t>5. Weighted score → Ranked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828800"/>
            <a:ext cx="2743200" cy="594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423160"/>
            <a:ext cx="2743200" cy="4114800"/>
          </a:xfrm>
          <a:prstGeom prst="rect">
            <a:avLst/>
          </a:prstGeom>
          <a:solidFill>
            <a:srgbClr val="2D2A6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1460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React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99008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React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46557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Axios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4106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CSS3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28800"/>
            <a:ext cx="27432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423160"/>
            <a:ext cx="2743200" cy="4114800"/>
          </a:xfrm>
          <a:prstGeom prst="rect">
            <a:avLst/>
          </a:prstGeom>
          <a:solidFill>
            <a:srgbClr val="2D2A6E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51460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Node.js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99008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Express.js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46557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Multer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94106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JWT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828800"/>
            <a:ext cx="2743200" cy="5943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ML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423160"/>
            <a:ext cx="2743200" cy="4114800"/>
          </a:xfrm>
          <a:prstGeom prst="rect">
            <a:avLst/>
          </a:prstGeom>
          <a:solidFill>
            <a:srgbClr val="2D2A6E"/>
          </a:solidFill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51460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Python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99008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Flask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46557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94106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Sentence-BERT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4165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PyPDF2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8920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python-docx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828800"/>
            <a:ext cx="2743200" cy="5943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DevOps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2423160"/>
            <a:ext cx="2743200" cy="4114800"/>
          </a:xfrm>
          <a:prstGeom prst="rect">
            <a:avLst/>
          </a:prstGeom>
          <a:solidFill>
            <a:srgbClr val="2D2A6E"/>
          </a:solidFill>
          <a:ln w="190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51460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Docker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99008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Docker Compose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46557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PowerShell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End-to-End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828800"/>
            <a:ext cx="502920" cy="5029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Recruiter posts job with title, description &amp; required skills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331720"/>
            <a:ext cx="50800" cy="2011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523744"/>
            <a:ext cx="502920" cy="5029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2374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Candidate uploads PDF/DOCX resume via the React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026664"/>
            <a:ext cx="50800" cy="2011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3218688"/>
            <a:ext cx="502920" cy="50292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186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ML Pipeline parses resume → extracts raw text (PyPDF2 / python-docx)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721608"/>
            <a:ext cx="50800" cy="20116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3913632"/>
            <a:ext cx="502920" cy="502920"/>
          </a:xfrm>
          <a:prstGeom prst="ellipse">
            <a:avLst/>
          </a:prstGeom>
          <a:solidFill>
            <a:srgbClr val="783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136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BERT + TF-IDF compute semantic similarity between resume &amp; JD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416552"/>
            <a:ext cx="50800" cy="201168"/>
          </a:xfrm>
          <a:prstGeom prst="rect">
            <a:avLst/>
          </a:prstGeom>
          <a:solidFill>
            <a:srgbClr val="783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" y="4608576"/>
            <a:ext cx="502920" cy="502920"/>
          </a:xfrm>
          <a:prstGeom prst="ellipse">
            <a:avLst/>
          </a:prstGeom>
          <a:solidFill>
            <a:srgbClr val="701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0857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Skill-matching engine detects required skills with synonym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5111496"/>
            <a:ext cx="50800" cy="201168"/>
          </a:xfrm>
          <a:prstGeom prst="rect">
            <a:avLst/>
          </a:prstGeom>
          <a:solidFill>
            <a:srgbClr val="701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530352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035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Combined weighted score computed (Skills 65% + BERT 12% + …)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806440"/>
            <a:ext cx="50800" cy="2011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998464"/>
            <a:ext cx="502920" cy="50292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9984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Ranked candidate list displayed in real-time recruiter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ML Scoring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Weighted Multi-Factor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Skills Match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993392"/>
            <a:ext cx="5052060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8412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63FF"/>
                </a:solidFill>
                <a:latin typeface="Calibri"/>
              </a:rPr>
              <a:t>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8600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Calibri"/>
              </a:rPr>
              <a:t>Synonym detection (React=React.js, DSA=Data Structures)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BERT Similarity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51760"/>
            <a:ext cx="932688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578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Calibri"/>
              </a:rPr>
              <a:t>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4436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Calibri"/>
              </a:rPr>
              <a:t>Sentence-BERT all-MiniLM-L6-v2 — semantic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3697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Experience/Education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310128"/>
            <a:ext cx="777240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32369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5F46"/>
                </a:solidFill>
                <a:latin typeface="Calibri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60273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Calibri"/>
              </a:rPr>
              <a:t>Years of exp (0-2, 2-5, 5+) + degree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953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Project Relevance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968496"/>
            <a:ext cx="621792" cy="347472"/>
          </a:xfrm>
          <a:prstGeom prst="rect">
            <a:avLst/>
          </a:prstGeom>
          <a:solidFill>
            <a:srgbClr val="783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3895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83509"/>
                </a:solidFill>
                <a:latin typeface="Calibri"/>
              </a:rPr>
              <a:t>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61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Calibri"/>
              </a:rPr>
              <a:t>Keyword analysis of projects section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537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Role Keywords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626864"/>
            <a:ext cx="233172" cy="347472"/>
          </a:xfrm>
          <a:prstGeom prst="rect">
            <a:avLst/>
          </a:prstGeom>
          <a:solidFill>
            <a:srgbClr val="701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9524" y="4553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01A75"/>
                </a:solidFill>
                <a:latin typeface="Calibri"/>
              </a:rPr>
              <a:t>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91947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Calibri"/>
              </a:rPr>
              <a:t>Seniority levels: Fresher, Junior, Senior,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Certifications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5285232"/>
            <a:ext cx="155448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57784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Calibri"/>
              </a:rPr>
              <a:t>AWS, Azure, MongoDB, GCP, etc.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217920"/>
            <a:ext cx="11247120" cy="530352"/>
          </a:xfrm>
          <a:prstGeom prst="rect">
            <a:avLst/>
          </a:prstGeom>
          <a:solidFill>
            <a:srgbClr val="1E1B4B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23620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Calibri"/>
              </a:rPr>
              <a:t>Score = (Skills×0.65) + (BERT×0.12) + (Exp×0.10) + (Projects×0.08) + (Keywords×0.03) + (Certs×0.02)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Key ML Techniques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5486400" cy="1828800"/>
          </a:xfrm>
          <a:prstGeom prst="rect">
            <a:avLst/>
          </a:prstGeom>
          <a:solidFill>
            <a:srgbClr val="1E1B4B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548640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C63FF"/>
                </a:solidFill>
                <a:latin typeface="Calibri"/>
              </a:rPr>
              <a:t>TF-IDF Vectorization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Converts resume/JD text to numerical vectors.
Weights rare but important terms higher (e.g., specific tech skills).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20240"/>
            <a:ext cx="5486400" cy="1828800"/>
          </a:xfrm>
          <a:prstGeom prst="rect">
            <a:avLst/>
          </a:prstGeom>
          <a:solidFill>
            <a:srgbClr val="1E1B4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548640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40AF"/>
                </a:solidFill>
                <a:latin typeface="Calibri"/>
              </a:rPr>
              <a:t>Cosine Similarity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Measures the angle between two vectors.
0 = no match, 1 = perfect match — direction matters, not magnitude.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23360"/>
            <a:ext cx="5486400" cy="1828800"/>
          </a:xfrm>
          <a:prstGeom prst="rect">
            <a:avLst/>
          </a:prstGeom>
          <a:solidFill>
            <a:srgbClr val="1E1B4B"/>
          </a:solidFill>
          <a:ln w="254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5486400" cy="731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330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65F46"/>
                </a:solidFill>
                <a:latin typeface="Calibri"/>
              </a:rPr>
              <a:t>Sentence-BERT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720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Pre-trained transformer model (all-MiniLM-L6-v2).
Understands meaning — 'software engineer' ≈ 'developer'.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023360"/>
            <a:ext cx="5486400" cy="1828800"/>
          </a:xfrm>
          <a:prstGeom prst="rect">
            <a:avLst/>
          </a:prstGeom>
          <a:solidFill>
            <a:srgbClr val="1E1B4B"/>
          </a:solidFill>
          <a:ln w="25400">
            <a:solidFill>
              <a:srgbClr val="7835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023360"/>
            <a:ext cx="5486400" cy="73152"/>
          </a:xfrm>
          <a:prstGeom prst="rect">
            <a:avLst/>
          </a:prstGeom>
          <a:solidFill>
            <a:srgbClr val="783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330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83509"/>
                </a:solidFill>
                <a:latin typeface="Calibri"/>
              </a:rPr>
              <a:t>N-gram Skill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Handles multi-word skills: 'machine learning', 'data structures'.
Synonym mapping covers abbreviations (DSA = Data Structures).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Resume Parsing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Automated extraction from PDF &amp; DOCX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Supports PDF (via PyPDF2) and DOCX (via python-docx)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Extracts: Name, Email, Skills, Projects, Experience, Education, Certifications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Regex-based section detection with intelligent fallback for unstructured resumes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69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All parsing happens server-side — no data sent to third parties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Parsed text sent to similarity engine for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47120" cy="685800"/>
          </a:xfrm>
          <a:prstGeom prst="rect">
            <a:avLst/>
          </a:prstGeom>
          <a:solidFill>
            <a:srgbClr val="2D2A6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E5FF"/>
                </a:solidFill>
                <a:latin typeface="Calibri"/>
              </a:rPr>
              <a:t>Resume File  →  Text Extraction  →  Section Detection  →  Structured Data  →  ML Scoring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RESTful 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8 endpoints · JSON responses · { success, data }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2860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/api/jobs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POST / GET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Create &amp; list job postings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/api/jobs/:id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GET / PUT / DELETE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Manage individual job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/api/resumes/upload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Upload resume (multipart/form-data)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/api/resumes/match-jobs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Match resume against all jobs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/api/rankings/generate/:jobId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Generate AI rankings for a job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/api/rankings/job/:jobId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Retrieve rankings for a job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/parse/resume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ML service: parse PDF/DOCX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/ranking/calculate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ML service: calculate scores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Frontend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React 18 · Purple Gradient UI · Tabbed 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3566160" cy="5486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9933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Post Job Tab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68880"/>
            <a:ext cx="3566160" cy="3840480"/>
          </a:xfrm>
          <a:prstGeom prst="rect">
            <a:avLst/>
          </a:prstGeom>
          <a:solidFill>
            <a:srgbClr val="1E1B4B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✓  Job title, company,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200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✓  Add required skills (comma-separated)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794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✓  Form validation &amp; success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920240"/>
            <a:ext cx="3566160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9933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Upload Resume Tab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468880"/>
            <a:ext cx="3566160" cy="3840480"/>
          </a:xfrm>
          <a:prstGeom prst="rect">
            <a:avLst/>
          </a:prstGeom>
          <a:solidFill>
            <a:srgbClr val="1E1B4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✓  Candidate name &amp;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3200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✓  Select target job from dropdown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794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✓  PDF / DOCX file upload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1920240"/>
            <a:ext cx="3566160" cy="5486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19933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Dashboard Tab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2468880"/>
            <a:ext cx="3566160" cy="3840480"/>
          </a:xfrm>
          <a:prstGeom prst="rect">
            <a:avLst/>
          </a:prstGeom>
          <a:solidFill>
            <a:srgbClr val="1E1B4B"/>
          </a:solidFill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✓  Select job → Generate Rankings button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3200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✓  Ranked list: match %, rank 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3794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✓  Matched skills vs. missing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4B5FD"/>
                </a:solidFill>
                <a:latin typeface="Calibri"/>
              </a:rPr>
              <a:t>Modern purple-gradient design  ·  Responsive layout  ·  Real-time success/error notifications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Score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How to read the match percentage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2011680" cy="100584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102A"/>
                </a:solidFill>
                <a:latin typeface="Calibri"/>
              </a:rPr>
              <a:t>60 – 75%+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594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FF9D"/>
                </a:solidFill>
                <a:latin typeface="Calibri"/>
              </a:rPr>
              <a:t>✅ Strong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0972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4B5FD"/>
                </a:solidFill>
                <a:latin typeface="Calibri"/>
              </a:rPr>
              <a:t>Definitely invite for interview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011680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102A"/>
                </a:solidFill>
                <a:latin typeface="Calibri"/>
              </a:rPr>
              <a:t>50 – 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8745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  <a:latin typeface="Calibri"/>
              </a:rPr>
              <a:t>🟡 Good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774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4B5FD"/>
                </a:solidFill>
                <a:latin typeface="Calibri"/>
              </a:rPr>
              <a:t>Seriously consider the candidate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2011680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102A"/>
                </a:solidFill>
                <a:latin typeface="Calibri"/>
              </a:rPr>
              <a:t>40 –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154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8C00"/>
                </a:solidFill>
                <a:latin typeface="Calibri"/>
              </a:rPr>
              <a:t>🟠 Decent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4B5FD"/>
                </a:solidFill>
                <a:latin typeface="Calibri"/>
              </a:rPr>
              <a:t>Review manually, could be a fit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2011680" cy="10058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102A"/>
                </a:solidFill>
                <a:latin typeface="Calibri"/>
              </a:rPr>
              <a:t>&lt; 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434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4D4D"/>
                </a:solidFill>
                <a:latin typeface="Calibri"/>
              </a:rPr>
              <a:t>🔴 Weak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9377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4B5FD"/>
                </a:solidFill>
                <a:latin typeface="Calibri"/>
              </a:rPr>
              <a:t>Likely not a match for this role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Clean separation of concerns across 5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Calibri"/>
              </a:rPr>
              <a:t>MAJOR Project/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B5FD"/>
                </a:solidFill>
                <a:latin typeface="Calibri"/>
              </a:rPr>
              <a:t>├── backend/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│     Node.js + Express REST API, JWT auth, in-memory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B5FD"/>
                </a:solidFill>
                <a:latin typeface="Calibri"/>
              </a:rPr>
              <a:t>├── frontend/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95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│     React 18 SPA — Post Job, Upload Resume, Rankings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B5FD"/>
                </a:solidFill>
                <a:latin typeface="Calibri"/>
              </a:rPr>
              <a:t>├── ml-pipeline/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3425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│     Flask ML service: parser.py (PDF/DOCX) + similarity.py (BERT/TF-IDF)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6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B5FD"/>
                </a:solidFill>
                <a:latin typeface="Calibri"/>
              </a:rPr>
              <a:t>├── docker/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│     docker-compose.yml + 3 Dockerfiles — one-command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412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B5FD"/>
                </a:solidFill>
                <a:latin typeface="Calibri"/>
              </a:rPr>
              <a:t>└── START.ps1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    One-click PowerShell startup script for local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Deployment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Docker Compose · Microservices · One-Command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47472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700"/>
                </a:solidFill>
                <a:latin typeface="Calibri"/>
              </a:rPr>
              <a:t>:3000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347472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965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23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700"/>
                </a:solidFill>
                <a:latin typeface="Calibri"/>
              </a:rPr>
              <a:t>:5000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920240"/>
            <a:ext cx="3474720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ML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23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700"/>
                </a:solidFill>
                <a:latin typeface="Calibri"/>
              </a:rPr>
              <a:t>:5001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918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Docker Compose: docker-compose up --build  →  all 3 services 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136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136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One-click local dev: .\START.ps1  (PowerShell)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3542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3542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Each service runs in an isolated container with its own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5721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572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Production path: MongoDB + AWS S3 + Vercel / Heroku / AWS ECS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790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79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Each Dockerfile: backend, frontend, ml — independently scalable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Engineering decisions that shaped the final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7607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Skill name variations (React vs React.js)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Synonym mapping dictionary in skill matcher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Unstructured resume formats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Regex section detection + plain-text fallback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BERT model unavailable / slow load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Graceful fallback to TF-IDF cosine similarity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Multi-service coordination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Docker Compose with health checks &amp; restart policy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Bias in manual hiring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Objective, weighted, reproducible scoring formula</a:t>
                      </a:r>
                    </a:p>
                  </a:txBody>
                  <a:tcPr>
                    <a:solidFill>
                      <a:srgbClr val="2D2A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High resume volume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</a:rPr>
                        <a:t>In-memory processing — no DB round-trips needed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Results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Sample ranking output for: Senior Full Stack Developer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548640"/>
          </a:xfrm>
          <a:prstGeom prst="rect">
            <a:avLst/>
          </a:prstGeom>
          <a:solidFill>
            <a:srgbClr val="2D2A6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1. Post Job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39" y="1920240"/>
            <a:ext cx="3566160" cy="548640"/>
          </a:xfrm>
          <a:prstGeom prst="rect">
            <a:avLst/>
          </a:prstGeom>
          <a:solidFill>
            <a:srgbClr val="2D2A6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39" y="1965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2. Upload 3-5 Resumes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8" y="1920240"/>
            <a:ext cx="3566160" cy="548640"/>
          </a:xfrm>
          <a:prstGeom prst="rect">
            <a:avLst/>
          </a:prstGeom>
          <a:solidFill>
            <a:srgbClr val="2D2A6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8" y="1965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3. Generate Rankings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0515600" cy="777240"/>
          </a:xfrm>
          <a:prstGeom prst="rect">
            <a:avLst/>
          </a:prstGeom>
          <a:solidFill>
            <a:srgbClr val="1E1B4B"/>
          </a:solidFill>
          <a:ln w="2540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986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9D"/>
                </a:solidFill>
                <a:latin typeface="Calibri"/>
              </a:rPr>
              <a:t>🥇 Rank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8986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Candidate A — React, Node.js, MongoDB, 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8346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FF9D"/>
                </a:solidFill>
                <a:latin typeface="Calibri"/>
              </a:rPr>
              <a:t>72%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39312"/>
            <a:ext cx="10515600" cy="777240"/>
          </a:xfrm>
          <a:prstGeom prst="rect">
            <a:avLst/>
          </a:prstGeom>
          <a:solidFill>
            <a:srgbClr val="1E1B4B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Calibri"/>
              </a:rPr>
              <a:t>🥈 Rank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794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Candidate B — React, Node.js,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73075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D700"/>
                </a:solidFill>
                <a:latin typeface="Calibri"/>
              </a:rPr>
              <a:t>58%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35424"/>
            <a:ext cx="10515600" cy="777240"/>
          </a:xfrm>
          <a:prstGeom prst="rect">
            <a:avLst/>
          </a:prstGeom>
          <a:solidFill>
            <a:srgbClr val="1E1B4B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9087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8C00"/>
                </a:solidFill>
                <a:latin typeface="Calibri"/>
              </a:rPr>
              <a:t>🥉 Rank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6908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Candidate C — Node.js, SQL (missing: React, Docker)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626864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C00"/>
                </a:solidFill>
                <a:latin typeface="Calibri"/>
              </a:rPr>
              <a:t>41%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4B5FD"/>
                </a:solidFill>
                <a:latin typeface="Calibri"/>
              </a:rPr>
              <a:t>Each candidate card shows: matched skills ✅ | missing skills ❌ | overall match percentage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6C63FF"/>
                </a:solidFill>
                <a:latin typeface="Calibri"/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Full-stack MERN development (MongoDB · Express · React · Node.js)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871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6C63FF"/>
                </a:solidFill>
                <a:latin typeface="Calibr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Machine Learning &amp; NLP integration in a real-world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5409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6C63FF"/>
                </a:solidFill>
                <a:latin typeface="Calibri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5409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Microservices architecture design and service decomposition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210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6C63FF"/>
                </a:solidFill>
                <a:latin typeface="Calibr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2102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RESTful API design best practices and clean JSON contracts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8795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6C63FF"/>
                </a:solidFill>
                <a:latin typeface="Calibr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879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File handling — parsing PDF &amp; DOCX on the server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6C63FF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54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Docker containerisation and multi-service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218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6C63FF"/>
                </a:solidFill>
                <a:latin typeface="Calibr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218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Real-time data processing without a persistent database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Calibri"/>
              </a:rPr>
              <a:t>Planned features for production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Role-based authentication (JWT) — Recruiter vs. Candidate portals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8192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1920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Advanced analytics dashboard — hiring trends, funnel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Automated email notifications to shortlisted candidates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514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Mobile-responsive UI improvements &amp; PWA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08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089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LinkedIn profile integration &amp; ATS (Applicant Tracking System)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3108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1089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Full cloud deployment on AWS / Azure / GCP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Bias detection module &amp; diversity-aware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3703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Unit &amp; integration test coverage (Jest + PyTest)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471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1247120" cy="658368"/>
          </a:xfrm>
          <a:prstGeom prst="rect">
            <a:avLst/>
          </a:prstGeom>
          <a:solidFill>
            <a:srgbClr val="2D2A6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  ★  Built a complete, end-to-end AI-powered recruitment tool from scratch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88336"/>
            <a:ext cx="11247120" cy="658368"/>
          </a:xfrm>
          <a:prstGeom prst="rect">
            <a:avLst/>
          </a:prstGeom>
          <a:solidFill>
            <a:srgbClr val="2D2A6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7977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  ★  Reduces manual screening time from hours to under a minute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56432"/>
            <a:ext cx="11247120" cy="658368"/>
          </a:xfrm>
          <a:prstGeom prst="rect">
            <a:avLst/>
          </a:prstGeom>
          <a:solidFill>
            <a:srgbClr val="2D2A6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4787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  ★  Objective &amp; consistent ranking eliminates subjective bias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24528"/>
            <a:ext cx="11247120" cy="658368"/>
          </a:xfrm>
          <a:prstGeom prst="rect">
            <a:avLst/>
          </a:prstGeom>
          <a:solidFill>
            <a:srgbClr val="2D2A6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31596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  ★  Demonstrates seamless integration of modern web tech with ML/NLP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92624"/>
            <a:ext cx="11247120" cy="658368"/>
          </a:xfrm>
          <a:prstGeom prst="rect">
            <a:avLst/>
          </a:prstGeom>
          <a:solidFill>
            <a:srgbClr val="2D2A6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08406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  ★  Production-ready microservices architecture with Docker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47120" cy="658368"/>
          </a:xfrm>
          <a:prstGeom prst="rect">
            <a:avLst/>
          </a:prstGeom>
          <a:solidFill>
            <a:srgbClr val="2D2A6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852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  ★  Extensible design — ready for authentication, analytics &amp; cloud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C4B5FD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429000"/>
            <a:ext cx="66751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657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4B5FD"/>
                </a:solidFill>
                <a:latin typeface="Calibri"/>
              </a:rPr>
              <a:t>• scikit-learn — Machine Learning in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04164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4B5FD"/>
                </a:solidFill>
                <a:latin typeface="Calibri"/>
              </a:rPr>
              <a:t>• Sentence-BERT — Hugging Face Transformers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425696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4B5FD"/>
                </a:solidFill>
                <a:latin typeface="Calibri"/>
              </a:rPr>
              <a:t>• React — Meta Open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09744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4B5FD"/>
                </a:solidFill>
                <a:latin typeface="Calibri"/>
              </a:rPr>
              <a:t>• Express.js — Fast Node.js web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19379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4B5FD"/>
                </a:solidFill>
                <a:latin typeface="Calibri"/>
              </a:rPr>
              <a:t>• Flask — Lightweight Python web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5778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4B5FD"/>
                </a:solidFill>
                <a:latin typeface="Calibri"/>
              </a:rPr>
              <a:t>• PyPDF2 / python-docx — Document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8FD4"/>
                </a:solidFill>
                <a:latin typeface="Calibri"/>
              </a:rPr>
              <a:t>AI-Powered Resume Shortlisting System  |  Major Project  |  GitHub: AryanBartwal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